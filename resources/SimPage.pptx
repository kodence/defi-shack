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-7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ADD44-CAEB-9802-2668-36FC1B6B7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609F74-261F-EE21-4A22-CDDCC325DB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5589F-583D-3DA0-6936-B6C98C9D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38B29-9DB0-4DEC-89B3-94E0E0F2BF42}" type="datetimeFigureOut">
              <a:rPr lang="en-SG" smtClean="0"/>
              <a:t>31/3/2026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91B55-3ACF-1EC9-0C5D-777324A42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72458-15D5-10EF-12DE-95CBA58B8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B350-EB18-4863-8F60-6E26CF2F02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30718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5A96B-90DC-DBB6-0525-52A21108A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8FF82-1E21-8E78-26B6-2427FD482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CD67E-5352-8096-CFE5-532C9A435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38B29-9DB0-4DEC-89B3-94E0E0F2BF42}" type="datetimeFigureOut">
              <a:rPr lang="en-SG" smtClean="0"/>
              <a:t>31/3/2026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F4052-69E9-7DD2-82C7-18B496E16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40A69-A9CA-6067-DF3E-D8166B93E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B350-EB18-4863-8F60-6E26CF2F02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3399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64D60-40C9-0F31-5EDC-2F3F8A3BB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4FBE6-B97F-5440-8C8B-7DC235F7C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5E971-3776-DEE0-3696-92A9B9C3F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38B29-9DB0-4DEC-89B3-94E0E0F2BF42}" type="datetimeFigureOut">
              <a:rPr lang="en-SG" smtClean="0"/>
              <a:t>31/3/2026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AF155-6D70-26C7-DEEA-429230272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5A6AA-A553-F03D-BCC2-4FA0E89C9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B350-EB18-4863-8F60-6E26CF2F02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46931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C50E9-B4D7-AA6F-CD40-1255B6786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CA5EF-1ABE-BD3F-0EB7-04D51C75D2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EE5C2D-E430-ABDC-3731-679C38802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F2826-C2E1-3880-791E-ECB86FA65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38B29-9DB0-4DEC-89B3-94E0E0F2BF42}" type="datetimeFigureOut">
              <a:rPr lang="en-SG" smtClean="0"/>
              <a:t>31/3/2026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C3F46A-330B-3506-C241-05BEBB8A0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D9101-3762-3941-9887-60C40DF04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B350-EB18-4863-8F60-6E26CF2F02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52125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3BD2A-A8C5-CEEB-7DA8-BBB470CC0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B6C029-4AC1-4609-14B4-063296DB3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42C44F-2880-81E7-EC9F-5E8C551D8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24912E-7A21-63F8-7196-7468D0E67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D0AA01-7C9C-A63C-FB58-7F94EAAB3B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FA6A98-834F-F71F-3D2E-1066BE19B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38B29-9DB0-4DEC-89B3-94E0E0F2BF42}" type="datetimeFigureOut">
              <a:rPr lang="en-SG" smtClean="0"/>
              <a:t>31/3/2026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9A7637-6E2F-4C33-1A44-0F1B7CF4F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900EC3-1AC6-576A-4377-40EECF58C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B350-EB18-4863-8F60-6E26CF2F02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3000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07096-8CD1-B19F-4BBE-BCC62ABE7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295E87-5A21-C859-2207-F45ED6F98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38B29-9DB0-4DEC-89B3-94E0E0F2BF42}" type="datetimeFigureOut">
              <a:rPr lang="en-SG" smtClean="0"/>
              <a:t>31/3/2026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25D8EE-7608-78CD-E9A1-31AE584F5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226481-206C-F5E8-647B-E57509A21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B350-EB18-4863-8F60-6E26CF2F02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62470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6732A4-AC8B-130A-20D2-A3A7E0A03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38B29-9DB0-4DEC-89B3-94E0E0F2BF42}" type="datetimeFigureOut">
              <a:rPr lang="en-SG" smtClean="0"/>
              <a:t>31/3/2026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1069CE-2BF4-8BE9-A45F-8AD79768E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26AC3-7D3B-9238-7502-23E63EFAF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B350-EB18-4863-8F60-6E26CF2F02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5218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663D5-A722-2E72-CCFB-71836D936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4F721-5582-287A-F795-E1DE516F4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C0362-29BC-CEB0-5519-5167E3AFB0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0C327-95CA-53A9-3CE3-C9044BE4C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38B29-9DB0-4DEC-89B3-94E0E0F2BF42}" type="datetimeFigureOut">
              <a:rPr lang="en-SG" smtClean="0"/>
              <a:t>31/3/2026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B3AD3-48B9-9B08-83FF-BD255A189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E93CB-6D1D-4AAB-4E96-047A564D9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B350-EB18-4863-8F60-6E26CF2F02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76400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05960-4FC7-DC94-14AB-BED524F5A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7E20A9-4D9F-2F23-55A5-CBE6E60631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853255-895A-686E-C028-EE62C2FE28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E35AAE-1F48-1519-466E-13648C7B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38B29-9DB0-4DEC-89B3-94E0E0F2BF42}" type="datetimeFigureOut">
              <a:rPr lang="en-SG" smtClean="0"/>
              <a:t>31/3/2026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D7429-DD94-822B-DE1D-BC9CAD641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18C0C-31A2-91D8-D7EF-259824ACA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B350-EB18-4863-8F60-6E26CF2F02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28923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07B0-05E3-1493-3622-1244412C6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38330D-2E88-7872-0377-B7D66591F5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B10F0-731F-D601-0469-9B5BF49BC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38B29-9DB0-4DEC-89B3-94E0E0F2BF42}" type="datetimeFigureOut">
              <a:rPr lang="en-SG" smtClean="0"/>
              <a:t>31/3/2026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9B869-07FC-D200-53A3-9731EEE0B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6AF01-EA9B-B5E8-EAFB-A4B0959F5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B350-EB18-4863-8F60-6E26CF2F02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66051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024354-08D4-6E3C-7A0D-016445FDB4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CE9794-97FD-3C96-6543-D72EF199BE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EE394-5733-90A9-C6A3-27D8CE93F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38B29-9DB0-4DEC-89B3-94E0E0F2BF42}" type="datetimeFigureOut">
              <a:rPr lang="en-SG" smtClean="0"/>
              <a:t>31/3/2026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AC602-34D6-6AAE-DC32-6BE3932F4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4AB09-555F-D3B7-1B3E-7140D6A5C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B350-EB18-4863-8F60-6E26CF2F02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93359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69FB5E-5E2A-C22F-3E83-7984708AA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344E8-D8CB-9F0C-6835-32989EFF9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26A15-081D-8A84-4814-2ED8A374A6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138B29-9DB0-4DEC-89B3-94E0E0F2BF42}" type="datetimeFigureOut">
              <a:rPr lang="en-SG" smtClean="0"/>
              <a:t>31/3/2026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E2768-7516-F1A5-A725-F3A8FC2070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7F876-0072-48E2-34F4-AC6E8B5FB0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8B350-EB18-4863-8F60-6E26CF2F02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07953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D6C1C0B-E5B9-599E-4CBB-6157B1B26DF6}"/>
              </a:ext>
            </a:extLst>
          </p:cNvPr>
          <p:cNvSpPr/>
          <p:nvPr/>
        </p:nvSpPr>
        <p:spPr>
          <a:xfrm>
            <a:off x="2198255" y="701965"/>
            <a:ext cx="7777018" cy="5726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EE4355-2020-B1BC-5B03-2F2309635312}"/>
              </a:ext>
            </a:extLst>
          </p:cNvPr>
          <p:cNvSpPr txBox="1"/>
          <p:nvPr/>
        </p:nvSpPr>
        <p:spPr>
          <a:xfrm>
            <a:off x="2336800" y="775922"/>
            <a:ext cx="1190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Exchange</a:t>
            </a:r>
            <a:endParaRPr lang="en-SG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5A4309-9DCC-93BB-3B98-7E59BA350C93}"/>
              </a:ext>
            </a:extLst>
          </p:cNvPr>
          <p:cNvSpPr/>
          <p:nvPr/>
        </p:nvSpPr>
        <p:spPr>
          <a:xfrm>
            <a:off x="3442541" y="775922"/>
            <a:ext cx="695351" cy="36933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76C2F0-1C41-4419-E145-DC6422259B4E}"/>
              </a:ext>
            </a:extLst>
          </p:cNvPr>
          <p:cNvSpPr txBox="1"/>
          <p:nvPr/>
        </p:nvSpPr>
        <p:spPr>
          <a:xfrm>
            <a:off x="4327236" y="789836"/>
            <a:ext cx="1076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Network</a:t>
            </a:r>
            <a:endParaRPr lang="en-SG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B16CDB-5DFF-F3F8-4FC4-753BE16944ED}"/>
              </a:ext>
            </a:extLst>
          </p:cNvPr>
          <p:cNvSpPr/>
          <p:nvPr/>
        </p:nvSpPr>
        <p:spPr>
          <a:xfrm>
            <a:off x="5322141" y="789836"/>
            <a:ext cx="695351" cy="36933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10694E-3513-66DC-706C-6F3E22F9E753}"/>
              </a:ext>
            </a:extLst>
          </p:cNvPr>
          <p:cNvSpPr txBox="1"/>
          <p:nvPr/>
        </p:nvSpPr>
        <p:spPr>
          <a:xfrm>
            <a:off x="6200589" y="775867"/>
            <a:ext cx="651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Pool</a:t>
            </a:r>
            <a:endParaRPr lang="en-SG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86A406-AC5F-EA28-F468-B5EB862CADC6}"/>
              </a:ext>
            </a:extLst>
          </p:cNvPr>
          <p:cNvSpPr/>
          <p:nvPr/>
        </p:nvSpPr>
        <p:spPr>
          <a:xfrm>
            <a:off x="6786468" y="789836"/>
            <a:ext cx="1184514" cy="36933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452FFB2-9633-6D19-3820-34D6D7DF1F9D}"/>
              </a:ext>
            </a:extLst>
          </p:cNvPr>
          <p:cNvGrpSpPr/>
          <p:nvPr/>
        </p:nvGrpSpPr>
        <p:grpSpPr>
          <a:xfrm>
            <a:off x="2263857" y="2680958"/>
            <a:ext cx="2249840" cy="1265381"/>
            <a:chOff x="2232693" y="4539704"/>
            <a:chExt cx="2249840" cy="126538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72BAE55-8E0C-946D-2E9A-E765573F5FE6}"/>
                </a:ext>
              </a:extLst>
            </p:cNvPr>
            <p:cNvSpPr/>
            <p:nvPr/>
          </p:nvSpPr>
          <p:spPr>
            <a:xfrm>
              <a:off x="2232693" y="4539704"/>
              <a:ext cx="2249840" cy="126538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DB73645-81AD-E4CD-730A-D4145BCCDC63}"/>
                </a:ext>
              </a:extLst>
            </p:cNvPr>
            <p:cNvSpPr txBox="1"/>
            <p:nvPr/>
          </p:nvSpPr>
          <p:spPr>
            <a:xfrm>
              <a:off x="2267131" y="4567178"/>
              <a:ext cx="17689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Current Market</a:t>
              </a:r>
              <a:endParaRPr lang="en-SG" b="1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45A4A9B-83A7-239A-C6C3-7DC90B7B3B68}"/>
                </a:ext>
              </a:extLst>
            </p:cNvPr>
            <p:cNvSpPr txBox="1"/>
            <p:nvPr/>
          </p:nvSpPr>
          <p:spPr>
            <a:xfrm>
              <a:off x="2267131" y="4918096"/>
              <a:ext cx="6347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Price</a:t>
              </a:r>
              <a:endParaRPr lang="en-SG" sz="160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0352D35-3024-6F38-3388-13EE52F6AE71}"/>
                </a:ext>
              </a:extLst>
            </p:cNvPr>
            <p:cNvSpPr/>
            <p:nvPr/>
          </p:nvSpPr>
          <p:spPr>
            <a:xfrm>
              <a:off x="3599947" y="4917986"/>
              <a:ext cx="695351" cy="36933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tx1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DCE0E57-4F67-096F-DB56-3F1C396C997A}"/>
                </a:ext>
              </a:extLst>
            </p:cNvPr>
            <p:cNvSpPr txBox="1"/>
            <p:nvPr/>
          </p:nvSpPr>
          <p:spPr>
            <a:xfrm>
              <a:off x="2267131" y="5352180"/>
              <a:ext cx="140025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24hrs Volume</a:t>
              </a:r>
              <a:endParaRPr lang="en-SG" sz="16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4510C70-10FA-F761-0291-6482E5055DDA}"/>
                </a:ext>
              </a:extLst>
            </p:cNvPr>
            <p:cNvSpPr/>
            <p:nvPr/>
          </p:nvSpPr>
          <p:spPr>
            <a:xfrm>
              <a:off x="3599947" y="5352070"/>
              <a:ext cx="695351" cy="36933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tx1"/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C5FA0FB-2D01-45C9-DF03-453BD1E211F2}"/>
              </a:ext>
            </a:extLst>
          </p:cNvPr>
          <p:cNvGrpSpPr/>
          <p:nvPr/>
        </p:nvGrpSpPr>
        <p:grpSpPr>
          <a:xfrm>
            <a:off x="2232693" y="1353516"/>
            <a:ext cx="7751638" cy="4428267"/>
            <a:chOff x="2232693" y="1353516"/>
            <a:chExt cx="7751638" cy="4428267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A75128D5-B0DF-1629-E5D8-F58D30ADE64A}"/>
                </a:ext>
              </a:extLst>
            </p:cNvPr>
            <p:cNvGrpSpPr/>
            <p:nvPr/>
          </p:nvGrpSpPr>
          <p:grpSpPr>
            <a:xfrm>
              <a:off x="2273150" y="2212020"/>
              <a:ext cx="2235200" cy="3569763"/>
              <a:chOff x="2232693" y="859105"/>
              <a:chExt cx="2235200" cy="3569763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610910A-5F09-F767-53DE-127515D0FA24}"/>
                  </a:ext>
                </a:extLst>
              </p:cNvPr>
              <p:cNvSpPr/>
              <p:nvPr/>
            </p:nvSpPr>
            <p:spPr>
              <a:xfrm>
                <a:off x="2232693" y="2677989"/>
                <a:ext cx="2235200" cy="175087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58FC43E-21E0-673A-828F-CD1EE44B8D47}"/>
                  </a:ext>
                </a:extLst>
              </p:cNvPr>
              <p:cNvSpPr txBox="1"/>
              <p:nvPr/>
            </p:nvSpPr>
            <p:spPr>
              <a:xfrm>
                <a:off x="2232693" y="2677989"/>
                <a:ext cx="14222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Price Range</a:t>
                </a:r>
                <a:endParaRPr lang="en-SG" b="1" dirty="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D3BAB06-78E2-15D1-4340-F1D6BD7A50CC}"/>
                  </a:ext>
                </a:extLst>
              </p:cNvPr>
              <p:cNvSpPr txBox="1"/>
              <p:nvPr/>
            </p:nvSpPr>
            <p:spPr>
              <a:xfrm>
                <a:off x="2232693" y="3028907"/>
                <a:ext cx="100181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Min Price</a:t>
                </a:r>
                <a:endParaRPr lang="en-SG" sz="1600" dirty="0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A8BD9F5-2BA3-DC16-7692-E2359421788C}"/>
                  </a:ext>
                </a:extLst>
              </p:cNvPr>
              <p:cNvSpPr/>
              <p:nvPr/>
            </p:nvSpPr>
            <p:spPr>
              <a:xfrm>
                <a:off x="3565509" y="3028797"/>
                <a:ext cx="695351" cy="369332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2CA1A3F-94BD-BF60-95DB-A9588BFDC69B}"/>
                  </a:ext>
                </a:extLst>
              </p:cNvPr>
              <p:cNvSpPr txBox="1"/>
              <p:nvPr/>
            </p:nvSpPr>
            <p:spPr>
              <a:xfrm>
                <a:off x="2232693" y="3462991"/>
                <a:ext cx="103868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Max Price</a:t>
                </a:r>
                <a:endParaRPr lang="en-SG" sz="1600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FB96EEF-405A-72C2-DE7C-8E34C4F85DD6}"/>
                  </a:ext>
                </a:extLst>
              </p:cNvPr>
              <p:cNvSpPr/>
              <p:nvPr/>
            </p:nvSpPr>
            <p:spPr>
              <a:xfrm>
                <a:off x="3565509" y="3462881"/>
                <a:ext cx="695351" cy="369332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5052424-091C-174E-E5E3-C9E5A40C0396}"/>
                  </a:ext>
                </a:extLst>
              </p:cNvPr>
              <p:cNvSpPr txBox="1"/>
              <p:nvPr/>
            </p:nvSpPr>
            <p:spPr>
              <a:xfrm>
                <a:off x="2247333" y="3912491"/>
                <a:ext cx="117692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Percentage</a:t>
                </a:r>
                <a:endParaRPr lang="en-SG" sz="1600" dirty="0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F0AC145-191A-BC75-B3BD-407611D39D02}"/>
                  </a:ext>
                </a:extLst>
              </p:cNvPr>
              <p:cNvSpPr/>
              <p:nvPr/>
            </p:nvSpPr>
            <p:spPr>
              <a:xfrm>
                <a:off x="3580149" y="3912381"/>
                <a:ext cx="695351" cy="369332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246F8FC-0D26-7238-8658-632C3C09DEDA}"/>
                  </a:ext>
                </a:extLst>
              </p:cNvPr>
              <p:cNvSpPr txBox="1"/>
              <p:nvPr/>
            </p:nvSpPr>
            <p:spPr>
              <a:xfrm>
                <a:off x="2430197" y="859105"/>
                <a:ext cx="133440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$151.2/30days</a:t>
                </a:r>
                <a:endParaRPr lang="en-SG" sz="1400" dirty="0"/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515BC657-ECF0-7C01-0848-85414629DF24}"/>
                </a:ext>
              </a:extLst>
            </p:cNvPr>
            <p:cNvGrpSpPr/>
            <p:nvPr/>
          </p:nvGrpSpPr>
          <p:grpSpPr>
            <a:xfrm>
              <a:off x="2232693" y="1353516"/>
              <a:ext cx="7751638" cy="1165628"/>
              <a:chOff x="2232693" y="1353516"/>
              <a:chExt cx="7751638" cy="1165628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D2E5D7D-6285-896D-2399-C4CBFF5BC1EC}"/>
                  </a:ext>
                </a:extLst>
              </p:cNvPr>
              <p:cNvSpPr/>
              <p:nvPr/>
            </p:nvSpPr>
            <p:spPr>
              <a:xfrm>
                <a:off x="2232693" y="1363695"/>
                <a:ext cx="1810327" cy="115422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629699F-004A-CD20-378B-DEB6F99BA32D}"/>
                  </a:ext>
                </a:extLst>
              </p:cNvPr>
              <p:cNvSpPr txBox="1"/>
              <p:nvPr/>
            </p:nvSpPr>
            <p:spPr>
              <a:xfrm>
                <a:off x="2232693" y="1403669"/>
                <a:ext cx="147348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     </a:t>
                </a:r>
                <a:r>
                  <a:rPr lang="en-US" sz="1600" b="1" dirty="0"/>
                  <a:t>Annual APR</a:t>
                </a:r>
                <a:endParaRPr lang="en-SG" sz="1600" b="1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59DEEC0-0C10-D570-412E-DD3F3C0ADD72}"/>
                  </a:ext>
                </a:extLst>
              </p:cNvPr>
              <p:cNvSpPr txBox="1"/>
              <p:nvPr/>
            </p:nvSpPr>
            <p:spPr>
              <a:xfrm>
                <a:off x="2563905" y="1642138"/>
                <a:ext cx="107593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 </a:t>
                </a:r>
                <a:r>
                  <a:rPr lang="en-US" sz="2400" dirty="0"/>
                  <a:t>18.4%</a:t>
                </a:r>
                <a:endParaRPr lang="en-SG" sz="2400" dirty="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7865D1A-0379-A99E-C01C-0A30E81EDCD7}"/>
                  </a:ext>
                </a:extLst>
              </p:cNvPr>
              <p:cNvSpPr txBox="1"/>
              <p:nvPr/>
            </p:nvSpPr>
            <p:spPr>
              <a:xfrm>
                <a:off x="2505075" y="1992946"/>
                <a:ext cx="94955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$5.04/day</a:t>
                </a:r>
                <a:endParaRPr lang="en-SG" sz="1400" dirty="0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B85415FF-FB8A-17C5-D786-7FB2CF45A343}"/>
                  </a:ext>
                </a:extLst>
              </p:cNvPr>
              <p:cNvSpPr/>
              <p:nvPr/>
            </p:nvSpPr>
            <p:spPr>
              <a:xfrm>
                <a:off x="4219188" y="1363695"/>
                <a:ext cx="1810327" cy="115422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CEE2023-273A-9582-8333-F95B6E2A3862}"/>
                  </a:ext>
                </a:extLst>
              </p:cNvPr>
              <p:cNvSpPr txBox="1"/>
              <p:nvPr/>
            </p:nvSpPr>
            <p:spPr>
              <a:xfrm>
                <a:off x="4219188" y="1403669"/>
                <a:ext cx="182761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/>
                  <a:t>Capital Efficiency</a:t>
                </a:r>
                <a:endParaRPr lang="en-SG" sz="1600" b="1" dirty="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6B4B336-40A3-0576-A7FD-691B234BD1BE}"/>
                  </a:ext>
                </a:extLst>
              </p:cNvPr>
              <p:cNvSpPr txBox="1"/>
              <p:nvPr/>
            </p:nvSpPr>
            <p:spPr>
              <a:xfrm>
                <a:off x="4550400" y="1642138"/>
                <a:ext cx="80502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620%</a:t>
                </a:r>
                <a:endParaRPr lang="en-SG" sz="2400" dirty="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A429744-20EA-9432-86EB-4E76770B5AF6}"/>
                  </a:ext>
                </a:extLst>
              </p:cNvPr>
              <p:cNvSpPr txBox="1"/>
              <p:nvPr/>
            </p:nvSpPr>
            <p:spPr>
              <a:xfrm>
                <a:off x="4491570" y="1992946"/>
                <a:ext cx="115897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Vs full range </a:t>
                </a:r>
                <a:br>
                  <a:rPr lang="en-US" sz="1400" dirty="0"/>
                </a:br>
                <a:r>
                  <a:rPr lang="en-US" sz="1400" dirty="0"/>
                  <a:t>position</a:t>
                </a:r>
                <a:endParaRPr lang="en-SG" sz="1400" dirty="0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7EED9766-F2E8-A711-5C47-99CCE6B7B570}"/>
                  </a:ext>
                </a:extLst>
              </p:cNvPr>
              <p:cNvSpPr/>
              <p:nvPr/>
            </p:nvSpPr>
            <p:spPr>
              <a:xfrm>
                <a:off x="6203480" y="1353516"/>
                <a:ext cx="1810327" cy="115422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3FB6D33-3813-49E0-6267-9E63367BD9F1}"/>
                  </a:ext>
                </a:extLst>
              </p:cNvPr>
              <p:cNvSpPr txBox="1"/>
              <p:nvPr/>
            </p:nvSpPr>
            <p:spPr>
              <a:xfrm>
                <a:off x="6317780" y="1393490"/>
                <a:ext cx="151535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/>
                  <a:t>IL at Boundary</a:t>
                </a:r>
                <a:endParaRPr lang="en-SG" sz="1600" b="1" dirty="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0649CFB-8973-DF5A-F686-B677F0C362A3}"/>
                  </a:ext>
                </a:extLst>
              </p:cNvPr>
              <p:cNvSpPr txBox="1"/>
              <p:nvPr/>
            </p:nvSpPr>
            <p:spPr>
              <a:xfrm>
                <a:off x="6534692" y="1631959"/>
                <a:ext cx="11801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 </a:t>
                </a:r>
                <a:r>
                  <a:rPr lang="en-US" sz="2400" dirty="0"/>
                  <a:t>-3.41%</a:t>
                </a:r>
                <a:endParaRPr lang="en-SG" sz="2400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016BB3D-52A7-3A15-66D9-9A62483F5D81}"/>
                  </a:ext>
                </a:extLst>
              </p:cNvPr>
              <p:cNvSpPr txBox="1"/>
              <p:nvPr/>
            </p:nvSpPr>
            <p:spPr>
              <a:xfrm>
                <a:off x="6475862" y="1982767"/>
                <a:ext cx="127791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-3.41% at Max</a:t>
                </a:r>
                <a:endParaRPr lang="en-SG" sz="1400" dirty="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CCA990F-4913-8CFF-0EC5-FDA5E9286068}"/>
                  </a:ext>
                </a:extLst>
              </p:cNvPr>
              <p:cNvSpPr txBox="1"/>
              <p:nvPr/>
            </p:nvSpPr>
            <p:spPr>
              <a:xfrm>
                <a:off x="6466337" y="2211367"/>
                <a:ext cx="12442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-2.87% at Min</a:t>
                </a:r>
                <a:endParaRPr lang="en-SG" sz="1400" dirty="0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F9CA9FBA-54A2-3B14-4D83-397EDAEF287C}"/>
                  </a:ext>
                </a:extLst>
              </p:cNvPr>
              <p:cNvSpPr/>
              <p:nvPr/>
            </p:nvSpPr>
            <p:spPr>
              <a:xfrm>
                <a:off x="8174004" y="1363695"/>
                <a:ext cx="1810327" cy="115422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CDCE958-0C2D-B321-53DD-12451B6C8D15}"/>
                  </a:ext>
                </a:extLst>
              </p:cNvPr>
              <p:cNvSpPr txBox="1"/>
              <p:nvPr/>
            </p:nvSpPr>
            <p:spPr>
              <a:xfrm>
                <a:off x="8301229" y="1373352"/>
                <a:ext cx="161473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/>
                  <a:t>30days in range</a:t>
                </a:r>
                <a:endParaRPr lang="en-SG" sz="1600" b="1" dirty="0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849DB16-309D-6CB5-E316-66C5A4EB22E3}"/>
                  </a:ext>
                </a:extLst>
              </p:cNvPr>
              <p:cNvSpPr txBox="1"/>
              <p:nvPr/>
            </p:nvSpPr>
            <p:spPr>
              <a:xfrm>
                <a:off x="8505216" y="1642138"/>
                <a:ext cx="82266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 </a:t>
                </a:r>
                <a:r>
                  <a:rPr lang="en-US" sz="2400" dirty="0"/>
                  <a:t>62%</a:t>
                </a:r>
                <a:endParaRPr lang="en-SG" sz="2400" dirty="0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B4AA1A7-3410-1D9E-E2C4-C8AFE987488E}"/>
                  </a:ext>
                </a:extLst>
              </p:cNvPr>
              <p:cNvSpPr txBox="1"/>
              <p:nvPr/>
            </p:nvSpPr>
            <p:spPr>
              <a:xfrm>
                <a:off x="8166763" y="2038990"/>
                <a:ext cx="172438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Break even ~60days</a:t>
                </a:r>
                <a:endParaRPr lang="en-SG" sz="1400" dirty="0"/>
              </a:p>
            </p:txBody>
          </p:sp>
        </p:grp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FEF2E712-4102-0D25-9308-D51B7323C411}"/>
              </a:ext>
            </a:extLst>
          </p:cNvPr>
          <p:cNvSpPr/>
          <p:nvPr/>
        </p:nvSpPr>
        <p:spPr>
          <a:xfrm>
            <a:off x="4648200" y="3054915"/>
            <a:ext cx="5336131" cy="27501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21D3D8B-FC30-B642-E0C3-D55A0C0DFB82}"/>
              </a:ext>
            </a:extLst>
          </p:cNvPr>
          <p:cNvSpPr txBox="1"/>
          <p:nvPr/>
        </p:nvSpPr>
        <p:spPr>
          <a:xfrm>
            <a:off x="5781675" y="3398129"/>
            <a:ext cx="2721451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Interactive Market Chart</a:t>
            </a:r>
            <a:br>
              <a:rPr lang="en-US" dirty="0"/>
            </a:br>
            <a:r>
              <a:rPr lang="en-US" sz="1600" dirty="0"/>
              <a:t>. Pool price</a:t>
            </a:r>
            <a:br>
              <a:rPr lang="en-US" sz="1600" dirty="0"/>
            </a:br>
            <a:r>
              <a:rPr lang="en-US" sz="1600" dirty="0"/>
              <a:t>. Volume</a:t>
            </a:r>
            <a:br>
              <a:rPr lang="en-US" sz="1600" dirty="0"/>
            </a:br>
            <a:r>
              <a:rPr lang="en-US" sz="1600" dirty="0"/>
              <a:t>. Pool Price Range</a:t>
            </a:r>
            <a:br>
              <a:rPr lang="en-US" sz="1600" dirty="0"/>
            </a:br>
            <a:r>
              <a:rPr lang="en-US" sz="1600" dirty="0"/>
              <a:t>. Current Market Price</a:t>
            </a:r>
            <a:endParaRPr lang="en-SG" sz="1600" dirty="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D7D771F-40C2-0BFB-6F6A-6A3524BDC889}"/>
              </a:ext>
            </a:extLst>
          </p:cNvPr>
          <p:cNvGrpSpPr/>
          <p:nvPr/>
        </p:nvGrpSpPr>
        <p:grpSpPr>
          <a:xfrm>
            <a:off x="2247333" y="5921724"/>
            <a:ext cx="3953256" cy="2746026"/>
            <a:chOff x="2247333" y="5921724"/>
            <a:chExt cx="3953256" cy="2746026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214D6BB-E095-AF44-40F2-454F4FE3CD0A}"/>
                </a:ext>
              </a:extLst>
            </p:cNvPr>
            <p:cNvSpPr/>
            <p:nvPr/>
          </p:nvSpPr>
          <p:spPr>
            <a:xfrm>
              <a:off x="2247333" y="5921724"/>
              <a:ext cx="3953256" cy="274602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F22914A-D537-8E04-1717-8CDB9F4BA4A2}"/>
                </a:ext>
              </a:extLst>
            </p:cNvPr>
            <p:cNvSpPr txBox="1"/>
            <p:nvPr/>
          </p:nvSpPr>
          <p:spPr>
            <a:xfrm>
              <a:off x="2281771" y="5949199"/>
              <a:ext cx="10411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Position</a:t>
              </a:r>
              <a:endParaRPr lang="en-SG" b="1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6277BC5-88D4-6960-74AA-E2350E3F7AF2}"/>
                </a:ext>
              </a:extLst>
            </p:cNvPr>
            <p:cNvSpPr txBox="1"/>
            <p:nvPr/>
          </p:nvSpPr>
          <p:spPr>
            <a:xfrm>
              <a:off x="2281771" y="6300117"/>
              <a:ext cx="8282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Capital</a:t>
              </a:r>
              <a:endParaRPr lang="en-SG" sz="1600" dirty="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7E2535C-1044-BB26-ABD0-03D81E8349A9}"/>
                </a:ext>
              </a:extLst>
            </p:cNvPr>
            <p:cNvSpPr/>
            <p:nvPr/>
          </p:nvSpPr>
          <p:spPr>
            <a:xfrm>
              <a:off x="3614587" y="6300007"/>
              <a:ext cx="1522712" cy="36933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$10000</a:t>
              </a:r>
              <a:endParaRPr lang="en-SG" sz="1600" dirty="0">
                <a:solidFill>
                  <a:schemeClr val="tx1"/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16FC693-B876-ACD2-6427-67E1EB78506C}"/>
                </a:ext>
              </a:extLst>
            </p:cNvPr>
            <p:cNvSpPr txBox="1"/>
            <p:nvPr/>
          </p:nvSpPr>
          <p:spPr>
            <a:xfrm>
              <a:off x="2281771" y="6734201"/>
              <a:ext cx="8461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Token 1</a:t>
              </a:r>
              <a:endParaRPr lang="en-SG" sz="1600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266518A-6821-A325-E7E6-A62B9611BE66}"/>
                </a:ext>
              </a:extLst>
            </p:cNvPr>
            <p:cNvSpPr/>
            <p:nvPr/>
          </p:nvSpPr>
          <p:spPr>
            <a:xfrm>
              <a:off x="3614587" y="6734091"/>
              <a:ext cx="695351" cy="36933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120</a:t>
              </a:r>
              <a:endParaRPr lang="en-SG" sz="1600" dirty="0">
                <a:solidFill>
                  <a:schemeClr val="tx1"/>
                </a:solidFill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187EC8C-5CD0-CF4C-6339-1D00BA545C8C}"/>
                </a:ext>
              </a:extLst>
            </p:cNvPr>
            <p:cNvSpPr txBox="1"/>
            <p:nvPr/>
          </p:nvSpPr>
          <p:spPr>
            <a:xfrm>
              <a:off x="2274835" y="7186680"/>
              <a:ext cx="8461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Token 2</a:t>
              </a:r>
              <a:endParaRPr lang="en-SG" sz="1600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2B5CB9AD-54DD-4749-EAE4-AE1B424AF546}"/>
                </a:ext>
              </a:extLst>
            </p:cNvPr>
            <p:cNvSpPr/>
            <p:nvPr/>
          </p:nvSpPr>
          <p:spPr>
            <a:xfrm>
              <a:off x="3607651" y="7186570"/>
              <a:ext cx="695351" cy="36933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32</a:t>
              </a:r>
              <a:endParaRPr lang="en-SG" sz="1600" dirty="0">
                <a:solidFill>
                  <a:schemeClr val="tx1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4B1104E-D69B-BD13-C6B9-7FC3D4F0BF78}"/>
                </a:ext>
              </a:extLst>
            </p:cNvPr>
            <p:cNvSpPr/>
            <p:nvPr/>
          </p:nvSpPr>
          <p:spPr>
            <a:xfrm>
              <a:off x="4429000" y="6718812"/>
              <a:ext cx="708299" cy="36933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$</a:t>
              </a:r>
              <a:r>
                <a:rPr lang="en-US" sz="1400" dirty="0">
                  <a:solidFill>
                    <a:schemeClr val="tx1"/>
                  </a:solidFill>
                </a:rPr>
                <a:t>5000</a:t>
              </a:r>
              <a:endParaRPr lang="en-SG" sz="1400" dirty="0">
                <a:solidFill>
                  <a:schemeClr val="tx1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F1FF3DA3-39EF-45C1-BBB3-BDE8593044B5}"/>
                </a:ext>
              </a:extLst>
            </p:cNvPr>
            <p:cNvSpPr/>
            <p:nvPr/>
          </p:nvSpPr>
          <p:spPr>
            <a:xfrm>
              <a:off x="4441948" y="7186570"/>
              <a:ext cx="695351" cy="36933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$</a:t>
              </a:r>
              <a:r>
                <a:rPr lang="en-US" sz="1400" dirty="0">
                  <a:solidFill>
                    <a:schemeClr val="tx1"/>
                  </a:solidFill>
                </a:rPr>
                <a:t>5000</a:t>
              </a:r>
              <a:endParaRPr lang="en-SG" sz="1400" dirty="0">
                <a:solidFill>
                  <a:schemeClr val="tx1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1A635FF-9BC4-38BD-0046-339C62B9A81F}"/>
                </a:ext>
              </a:extLst>
            </p:cNvPr>
            <p:cNvSpPr/>
            <p:nvPr/>
          </p:nvSpPr>
          <p:spPr>
            <a:xfrm>
              <a:off x="5236045" y="6737778"/>
              <a:ext cx="695351" cy="36933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50%</a:t>
              </a:r>
              <a:endParaRPr lang="en-SG" sz="1600" dirty="0">
                <a:solidFill>
                  <a:schemeClr val="tx1"/>
                </a:solidFill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0649A07-8585-51FC-99FF-FE92AFCF5F16}"/>
                </a:ext>
              </a:extLst>
            </p:cNvPr>
            <p:cNvSpPr/>
            <p:nvPr/>
          </p:nvSpPr>
          <p:spPr>
            <a:xfrm>
              <a:off x="5219095" y="7171291"/>
              <a:ext cx="695351" cy="36933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50%</a:t>
              </a:r>
              <a:endParaRPr lang="en-SG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B680788B-BB34-17A0-F4F1-9035CD11B700}"/>
              </a:ext>
            </a:extLst>
          </p:cNvPr>
          <p:cNvSpPr/>
          <p:nvPr/>
        </p:nvSpPr>
        <p:spPr>
          <a:xfrm>
            <a:off x="6294653" y="5921724"/>
            <a:ext cx="3689678" cy="274602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7D110CC-2164-952D-033F-3B0E069CE183}"/>
              </a:ext>
            </a:extLst>
          </p:cNvPr>
          <p:cNvSpPr txBox="1"/>
          <p:nvPr/>
        </p:nvSpPr>
        <p:spPr>
          <a:xfrm>
            <a:off x="7318966" y="6858000"/>
            <a:ext cx="171553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TVL daily chart</a:t>
            </a:r>
            <a:br>
              <a:rPr lang="en-US" dirty="0"/>
            </a:br>
            <a:r>
              <a:rPr lang="en-US" sz="1400" dirty="0"/>
              <a:t>Token 1 liquidity</a:t>
            </a:r>
            <a:br>
              <a:rPr lang="en-US" sz="1400" dirty="0"/>
            </a:br>
            <a:r>
              <a:rPr lang="en-US" sz="1400" dirty="0"/>
              <a:t>Token 2 liquidity</a:t>
            </a:r>
          </a:p>
          <a:p>
            <a:r>
              <a:rPr lang="en-US" sz="1400" dirty="0"/>
              <a:t>Total liquidity</a:t>
            </a:r>
            <a:endParaRPr lang="en-SG" sz="140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E899102-99CF-BAD0-595B-E97F0F38CD1A}"/>
              </a:ext>
            </a:extLst>
          </p:cNvPr>
          <p:cNvSpPr/>
          <p:nvPr/>
        </p:nvSpPr>
        <p:spPr>
          <a:xfrm>
            <a:off x="4648200" y="2680958"/>
            <a:ext cx="5336131" cy="3061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7BFA8D1-6FD4-28E6-EADC-30D45DF08F18}"/>
              </a:ext>
            </a:extLst>
          </p:cNvPr>
          <p:cNvSpPr txBox="1"/>
          <p:nvPr/>
        </p:nvSpPr>
        <p:spPr>
          <a:xfrm>
            <a:off x="4714330" y="2647385"/>
            <a:ext cx="1277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Tine Frame</a:t>
            </a:r>
            <a:endParaRPr lang="en-SG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8143275-E653-1796-F35C-0886F77E66F7}"/>
              </a:ext>
            </a:extLst>
          </p:cNvPr>
          <p:cNvSpPr/>
          <p:nvPr/>
        </p:nvSpPr>
        <p:spPr>
          <a:xfrm>
            <a:off x="6010938" y="2717347"/>
            <a:ext cx="657035" cy="22132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9A7991C-6B62-022E-C9FB-E53442151696}"/>
              </a:ext>
            </a:extLst>
          </p:cNvPr>
          <p:cNvSpPr/>
          <p:nvPr/>
        </p:nvSpPr>
        <p:spPr>
          <a:xfrm>
            <a:off x="4648200" y="2677989"/>
            <a:ext cx="5336131" cy="31270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2D75441-371E-38FF-8C1E-9BBE37F799EB}"/>
              </a:ext>
            </a:extLst>
          </p:cNvPr>
          <p:cNvSpPr txBox="1"/>
          <p:nvPr/>
        </p:nvSpPr>
        <p:spPr>
          <a:xfrm>
            <a:off x="6663522" y="2655929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days</a:t>
            </a:r>
            <a:endParaRPr lang="en-SG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4BEBC42-ED38-E093-3670-B58D655F5244}"/>
              </a:ext>
            </a:extLst>
          </p:cNvPr>
          <p:cNvSpPr txBox="1"/>
          <p:nvPr/>
        </p:nvSpPr>
        <p:spPr>
          <a:xfrm>
            <a:off x="9087912" y="813787"/>
            <a:ext cx="66146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Save</a:t>
            </a:r>
            <a:endParaRPr lang="en-SG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5D4FC5B-44EC-FF87-217C-680FB5E1AB2F}"/>
              </a:ext>
            </a:extLst>
          </p:cNvPr>
          <p:cNvSpPr txBox="1"/>
          <p:nvPr/>
        </p:nvSpPr>
        <p:spPr>
          <a:xfrm>
            <a:off x="7968849" y="2642760"/>
            <a:ext cx="1512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Reverse base</a:t>
            </a:r>
            <a:endParaRPr lang="en-SG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EB4978B-37EA-15DC-03E1-9D2EC7FC0B5C}"/>
              </a:ext>
            </a:extLst>
          </p:cNvPr>
          <p:cNvSpPr/>
          <p:nvPr/>
        </p:nvSpPr>
        <p:spPr>
          <a:xfrm>
            <a:off x="9435801" y="2762702"/>
            <a:ext cx="150469" cy="18472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X</a:t>
            </a:r>
            <a:endParaRPr lang="en-S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2940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121</Words>
  <Application>Microsoft Office PowerPoint</Application>
  <PresentationFormat>Widescreen</PresentationFormat>
  <Paragraphs>43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kc ooi</dc:creator>
  <cp:lastModifiedBy>kc ooi</cp:lastModifiedBy>
  <cp:revision>3</cp:revision>
  <dcterms:created xsi:type="dcterms:W3CDTF">2026-03-31T01:46:54Z</dcterms:created>
  <dcterms:modified xsi:type="dcterms:W3CDTF">2026-03-31T03:21:40Z</dcterms:modified>
</cp:coreProperties>
</file>